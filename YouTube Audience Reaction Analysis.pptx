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8AC7-9320-B34B-541D-3E0AD53CC4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66EDB8-1199-F9EB-3B19-8B5DCAAA70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1D57E-E495-1AF7-0893-7CE3E44BA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31AF1-91AC-4133-93C9-CC87F806CAF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99E41-7403-49AB-4CEB-DAD6FB1A3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9967A-0468-7E81-2FB5-5A0CCCA77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4E7D9-D8DB-4E34-9B9A-3694DD1A6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907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7B1CE-AF57-A2A2-3106-1D51520DF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E6708-6556-0EB6-6ABE-CBA20F8E8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99E59-EFD5-18EF-1BF9-50DF4D756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31AF1-91AC-4133-93C9-CC87F806CAF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95A9E-D449-1C9B-5D3D-4B8F808A8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2E203-6131-255B-3177-B132AE0FB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4E7D9-D8DB-4E34-9B9A-3694DD1A6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475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83931-8F5F-E910-7E96-D65B1E0A4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0C283-147B-FBFE-805E-055DA749E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00C5E-F1AB-63D7-E9BD-9D6D8999B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31AF1-91AC-4133-93C9-CC87F806CAF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17901-A3D2-1D0A-48CF-529A840D1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96FB1-EFF8-9096-34E2-C708BBD8A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4E7D9-D8DB-4E34-9B9A-3694DD1A6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740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9D7F1-C347-12C4-1EB0-A07B09D9B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0B8FF-0B95-AB83-34C4-FC88E4366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71EC3A-3B64-C806-D13E-8E1A492558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98ED2-B129-77F7-7983-C82CDA1D2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31AF1-91AC-4133-93C9-CC87F806CAF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D1777-3119-A9E5-3F58-22984CE58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A785D8-75F1-2CD4-D08B-7DCA5AB34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4E7D9-D8DB-4E34-9B9A-3694DD1A6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187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46C77-81C6-518D-CF64-9AA98E2A8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D7371-6C3A-E995-3D1C-07810F9F5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2E244-18A7-98FF-009C-A5B6F454D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D4B5F6-D522-0111-5656-92B394BE03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BB593E-D1A4-1954-8AD6-139CA0F55D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2B6742-5427-FE2C-514F-1F4488753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31AF1-91AC-4133-93C9-CC87F806CAF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05E297-6B58-1A8C-BC5D-DD1CB4F7C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CC30DB-7FAF-AFD4-B024-90FE08D67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4E7D9-D8DB-4E34-9B9A-3694DD1A6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26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219A5-3FED-217C-E115-F775937B7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B439EF-1791-E185-86A5-D4CD1AA16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31AF1-91AC-4133-93C9-CC87F806CAF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BCA040-BC18-EEAC-3809-16DF1B2B0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1BB2EE-3453-479F-047D-ACD9718BB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4E7D9-D8DB-4E34-9B9A-3694DD1A6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480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9302A1-1EC2-EEF4-D58D-893F1B881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31AF1-91AC-4133-93C9-CC87F806CAF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E237C0-5EED-66A1-B0AC-06897B67D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D34E8-E8AB-7CF2-A26C-6786342D2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4E7D9-D8DB-4E34-9B9A-3694DD1A6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152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730D9-5B56-B731-27C6-9C523095E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F0633-D1AF-441D-4A3B-19C547BB6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BCAC39-36DD-6E8A-D972-323D54AAB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57C4B7-773B-3817-FCA0-87C2FA0F1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31AF1-91AC-4133-93C9-CC87F806CAF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69E35-F7C6-1615-3770-6ACAA79A4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F526D-1920-5BBB-F04F-A897AB7E1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4E7D9-D8DB-4E34-9B9A-3694DD1A6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36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FF563-4751-6E9B-71A6-C5A3D350E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BFC083-5BFB-638D-4038-9EC37105F8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732E7C-74FD-A92D-17F5-47ADFC0D22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A58F7-6D81-4FE1-11EC-695DC9A63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31AF1-91AC-4133-93C9-CC87F806CAF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DF95DA-6C00-5C5F-7972-303E5A956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17A08-6E95-33EF-3611-C031DB383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4E7D9-D8DB-4E34-9B9A-3694DD1A6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401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A520D-6954-2D7E-AAA1-80F6AE71F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CE019-02EB-56A6-1E92-019B0B679D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50D41-E7B6-F732-8E02-5DE65C4E9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31AF1-91AC-4133-93C9-CC87F806CAF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BC66B-7D38-031F-15BD-EF8E9A322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A5E4B-DCE1-F5F4-0579-938E493EA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4E7D9-D8DB-4E34-9B9A-3694DD1A6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005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EF5EE7-E422-BCAE-A389-E330EC9545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4C8E5-369F-CEB4-F034-00649FE9C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E5BAB-D4FD-78A8-542F-F48A1A03E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31AF1-91AC-4133-93C9-CC87F806CAF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108B5-6829-13E7-1D5E-3059AAF7B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60B06-A2C4-CAD9-F1B3-825F802A7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4E7D9-D8DB-4E34-9B9A-3694DD1A6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400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C0BFC5-70A4-9267-A1A7-5EA8352D6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215A9-FE44-9280-F663-8ADBA9064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577A9-FB4E-BE23-A860-14CA543ACA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E31AF1-91AC-4133-93C9-CC87F806CAF7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C4367-8ADD-E694-07E8-1380D7016D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C0CDC-F6ED-402F-C807-1E32DB6414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34E7D9-D8DB-4E34-9B9A-3694DD1A6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843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B9B93-BC49-2784-FD51-BDFE890033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YouTube Audience Reaction Analysis. US Videos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993518-BCD1-DE09-F9FE-3B57AEB451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Group 2</a:t>
            </a:r>
          </a:p>
          <a:p>
            <a:endParaRPr lang="en-US" b="1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982BB47-135D-1ACE-68C9-BE3799E3E9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603161"/>
              </p:ext>
            </p:extLst>
          </p:nvPr>
        </p:nvGraphicFramePr>
        <p:xfrm>
          <a:off x="2210419" y="4051935"/>
          <a:ext cx="8128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2920155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771510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REG. 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9948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TURYA JOHN STEVEN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2023-B071-21285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122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WALWASA NATHAN 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2023-B071-21203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47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BIRUNGI BRIDGET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2023-B071-22674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628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SSEMANDA JONATHAN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2023-B071-22335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183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NALULE CATHERINE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2023-B071-22337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32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NSUBUGA NICHOLAS PAUL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2023-B071-22173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121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4905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A08F5-1E7C-0875-AB0B-ED19D38EB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64D66-AE76-324E-F52A-FA3DC6FCA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Title:</a:t>
            </a:r>
            <a:r>
              <a:rPr lang="en-US" dirty="0"/>
              <a:t> YouTube audience reaction. (What drives engagement?)</a:t>
            </a:r>
          </a:p>
          <a:p>
            <a:r>
              <a:rPr lang="en-US" b="1" dirty="0"/>
              <a:t>Overall sentiment is positive.</a:t>
            </a:r>
            <a:r>
              <a:rPr lang="en-US" dirty="0"/>
              <a:t> The vast majority of content (64%) generates a positive reaction, indicating a generally favorable audience mood.</a:t>
            </a:r>
          </a:p>
          <a:p>
            <a:r>
              <a:rPr lang="en-US" b="1" dirty="0"/>
              <a:t>Controversy drives clicks.</a:t>
            </a:r>
            <a:r>
              <a:rPr lang="en-US" dirty="0"/>
              <a:t> Despite the positive skew, videos with negative sentiment attract </a:t>
            </a:r>
            <a:r>
              <a:rPr lang="en-US" b="1" dirty="0"/>
              <a:t>21% more views</a:t>
            </a:r>
            <a:r>
              <a:rPr lang="en-US" dirty="0"/>
              <a:t> on average, highlighting the power of controversial or emotionally charged content.</a:t>
            </a:r>
          </a:p>
          <a:p>
            <a:r>
              <a:rPr lang="en-US" b="1" dirty="0"/>
              <a:t>Category matters.</a:t>
            </a:r>
            <a:r>
              <a:rPr lang="en-US" dirty="0"/>
              <a:t> Content in </a:t>
            </a:r>
            <a:r>
              <a:rPr lang="en-US" b="1" dirty="0"/>
              <a:t>travel and events</a:t>
            </a:r>
            <a:r>
              <a:rPr lang="en-US" dirty="0"/>
              <a:t> and </a:t>
            </a:r>
            <a:r>
              <a:rPr lang="en-US" b="1" dirty="0"/>
              <a:t>pets and animals</a:t>
            </a:r>
            <a:r>
              <a:rPr lang="en-US" dirty="0"/>
              <a:t> is received most positively, while </a:t>
            </a:r>
            <a:r>
              <a:rPr lang="en-US" b="1" dirty="0"/>
              <a:t>news and politics</a:t>
            </a:r>
            <a:r>
              <a:rPr lang="en-US" dirty="0"/>
              <a:t> is the most polarizing category.</a:t>
            </a:r>
          </a:p>
          <a:p>
            <a:r>
              <a:rPr lang="en-US" b="1" dirty="0"/>
              <a:t>Top Keywords.</a:t>
            </a:r>
            <a:r>
              <a:rPr lang="en-US" dirty="0"/>
              <a:t> The most frequent topics revolve around "video," "music," "new," and "2018," showing a focus on timely and entertaining content.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840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AA3A6-392B-AD53-7715-7A227D695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BUSINESS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D43EB-8F15-42FC-E6A1-984FC4101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 </a:t>
            </a:r>
            <a:r>
              <a:rPr lang="en-US" b="1" dirty="0"/>
              <a:t>Why Analyze Audience Reaction?</a:t>
            </a:r>
          </a:p>
          <a:p>
            <a:r>
              <a:rPr lang="en-US" b="1" dirty="0"/>
              <a:t>Objective.</a:t>
            </a:r>
            <a:br>
              <a:rPr lang="en-US" dirty="0"/>
            </a:br>
            <a:r>
              <a:rPr lang="en-US" dirty="0"/>
              <a:t>To analyze audience sentiment and emotional tone from YouTube video data to inform and improve content strategy.</a:t>
            </a:r>
          </a:p>
          <a:p>
            <a:r>
              <a:rPr lang="en-US" b="1" dirty="0"/>
              <a:t>Key Business Questions: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What is the overall sentiment (positive, negative, neutral) of the audience?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Which video categories generate the most positive or negative reactions?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What topics or keywords are associated with different sentiments?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Do videos with stronger emotional reactions receive more engagement?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566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679B9-37DD-F60D-F344-352160007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759E4-76DE-3BF9-D926-A333484AD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How We Analyzed Sentiment without comments</a:t>
            </a:r>
          </a:p>
          <a:p>
            <a:r>
              <a:rPr lang="en-US" b="1" dirty="0"/>
              <a:t>Data Source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USvideos.csv dataset containing metadata for 40,949 trending videos.</a:t>
            </a:r>
          </a:p>
          <a:p>
            <a:r>
              <a:rPr lang="en-US" b="1" dirty="0"/>
              <a:t>Methodology.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Proxy for comments.</a:t>
            </a:r>
            <a:r>
              <a:rPr lang="en-US" dirty="0"/>
              <a:t> Since user comments were not available, we analyzed the combined text from video </a:t>
            </a:r>
            <a:r>
              <a:rPr lang="en-US" b="1" dirty="0"/>
              <a:t>titles</a:t>
            </a:r>
            <a:r>
              <a:rPr lang="en-US" dirty="0"/>
              <a:t> and </a:t>
            </a:r>
            <a:r>
              <a:rPr lang="en-US" b="1" dirty="0"/>
              <a:t>descriptions</a:t>
            </a:r>
            <a:r>
              <a:rPr lang="en-US" dirty="0"/>
              <a:t>. This serves as a proxy for the content's intended message and emotional framing.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Sentiment analysis.</a:t>
            </a:r>
            <a:r>
              <a:rPr lang="en-US" dirty="0"/>
              <a:t> We used </a:t>
            </a:r>
            <a:r>
              <a:rPr lang="en-US" b="1" dirty="0" err="1"/>
              <a:t>TextBlob</a:t>
            </a:r>
            <a:r>
              <a:rPr lang="en-US" dirty="0"/>
              <a:t>, a natural language processing library, to classify the polarity of the text as positive, negative, or neutral.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Keyword Extraction.</a:t>
            </a:r>
            <a:r>
              <a:rPr lang="en-US" dirty="0"/>
              <a:t> We identified key topics using </a:t>
            </a:r>
            <a:r>
              <a:rPr lang="en-US" b="1" dirty="0"/>
              <a:t>TF-IDF</a:t>
            </a:r>
            <a:r>
              <a:rPr lang="en-US" dirty="0"/>
              <a:t> and </a:t>
            </a:r>
            <a:r>
              <a:rPr lang="en-US" b="1" dirty="0"/>
              <a:t>Word Count</a:t>
            </a:r>
            <a:r>
              <a:rPr lang="en-US" dirty="0"/>
              <a:t> analysis to see what themes were most prominent.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544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57EB2-9793-46CB-1311-A28EB8FB0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DATASET STATISTICS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C9636B-E028-614B-EB91-6615A60E2A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1088" y="2262188"/>
            <a:ext cx="5889823" cy="3911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577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515BA-E408-F288-2A47-1DDC626A2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TOP 20 TF-IDF TERMS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BE10F0-F895-9CE1-7420-B01AF1DAD2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5868" y="1690688"/>
            <a:ext cx="4060263" cy="50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736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49941-5F4A-A834-7D20-4DFE0A684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TOP 20 MOST FREQUENT WORDS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8CE7133-6EA8-DABE-4A3A-AC30C1ACEA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7800" y="1524000"/>
            <a:ext cx="8621486" cy="465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521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39FF6-2F35-3C7F-44BA-F7C6C645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SENTIMENT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B23898-066D-FF20-4CA3-AD9067FB41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5244" y="2141537"/>
            <a:ext cx="451283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683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A4E35-E843-2DED-7FF4-A431E7A74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SENTIMENT DISTRIBUTION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BC1281-48B2-0871-850E-17F0D2A33E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34497"/>
            <a:ext cx="10515600" cy="4333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386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D739B-1776-37AD-ADC6-FC2C6B0F6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SENTIMENT STATISTICS 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0C2754-4481-29B8-46DB-CFB8C47810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2140" y="1690688"/>
            <a:ext cx="6264680" cy="474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377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B1F5-E9A1-8CF8-E923-DAC02D47C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SENTIMENT DISTRUBUTION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E5EEAF-A3E7-EE47-F17C-35211D5457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4831" y="1825625"/>
            <a:ext cx="940569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09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91B6C-620D-4C60-4E16-F6AD6C797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SENTIMENT ANALYSIS VISUALIZATION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76B1AC-F7FF-BBEE-236F-8E9ECE0F2B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3694" y="1217463"/>
            <a:ext cx="7564611" cy="562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3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70A6A-776A-A4F5-D84D-7F0F4B5D2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POSITIVE SENTIMENT WORD CLOUD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E16884-4396-8B68-A293-8109E6D433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2249" y="1690688"/>
            <a:ext cx="7130857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203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52415-3EA4-D74E-9C16-951A0A0A3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NEGATIVE SENTIMENT WORD CLOUD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6AE6C0-A250-D8AE-5F11-7C0D0F0C19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0780" y="1690688"/>
            <a:ext cx="7010400" cy="472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004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1F5D5-0175-5F3C-E9BD-B88B1321C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NEUTRAL SENTIMENT WORD CLOUD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6D76E2-8635-88FD-2636-979BDAB686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4389" y="1561143"/>
            <a:ext cx="7323221" cy="4931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582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69BAD-26FE-81CE-7C6C-E530B6BF8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ENGAGEMENT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8A05A9-55D0-F70B-479B-219BCC90F3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54575"/>
            <a:ext cx="10515600" cy="349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609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882B2-8F55-A0AD-7521-EB6397801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SUMMARY OF SENTIMENT DISTRIBUTION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086D64-D727-E9C2-E2A1-7A503B1B58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5841" y="1690688"/>
            <a:ext cx="5587667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129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26E61-B080-9100-56AB-600C0607C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Interpretation - Emotional Tone &amp; Response Patterns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9072E-C5BF-41E5-0876-7B0F7CDD9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Emotional tone.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Overall mood.</a:t>
            </a:r>
            <a:r>
              <a:rPr lang="en-US" dirty="0"/>
              <a:t> Positive (Average polarity: 0.159)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Dominant emotion.</a:t>
            </a:r>
            <a:r>
              <a:rPr lang="en-US" dirty="0"/>
              <a:t> Satisfaction. The audience generally shows approval and contentment rather than extreme excitement or anger.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Engagement style:</a:t>
            </a:r>
            <a:r>
              <a:rPr lang="en-US" dirty="0"/>
              <a:t> </a:t>
            </a:r>
            <a:r>
              <a:rPr lang="en-US" b="1" dirty="0"/>
              <a:t>Moderately expressive and balanced</a:t>
            </a:r>
            <a:r>
              <a:rPr lang="en-US" dirty="0"/>
              <a:t>. The average subjectivity score (0.48) indicates that the content is more objective than opinion-based, and the audience responds in a measured way.</a:t>
            </a:r>
          </a:p>
          <a:p>
            <a:r>
              <a:rPr lang="en-US" b="1" dirty="0"/>
              <a:t>Key audience response patterns.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Positivity is the norm.</a:t>
            </a:r>
            <a:r>
              <a:rPr lang="en-US" dirty="0"/>
              <a:t> Audiences are far more likely to react positively than negatively.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Controversy attracts attention:</a:t>
            </a:r>
            <a:r>
              <a:rPr lang="en-US" dirty="0"/>
              <a:t> Negative content, though less common is a significant engagement magnet.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Lifestyle content wins hearts:</a:t>
            </a:r>
            <a:r>
              <a:rPr lang="en-US" dirty="0"/>
              <a:t> Travel, animals, and sports are "safe" and highly positive categories.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Information can be divisive:</a:t>
            </a:r>
            <a:r>
              <a:rPr lang="en-US" dirty="0"/>
              <a:t> News and political content while engaging creates the most polarized reactions.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771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536</Words>
  <Application>Microsoft Office PowerPoint</Application>
  <PresentationFormat>Widescreen</PresentationFormat>
  <Paragraphs>61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Wingdings</vt:lpstr>
      <vt:lpstr>Office Theme</vt:lpstr>
      <vt:lpstr>YouTube Audience Reaction Analysis. US Videos </vt:lpstr>
      <vt:lpstr>OVERVIEW</vt:lpstr>
      <vt:lpstr>BUSINESS UNDERSTANDING</vt:lpstr>
      <vt:lpstr>METHODOLOGY</vt:lpstr>
      <vt:lpstr>DATASET STATISTICS </vt:lpstr>
      <vt:lpstr>TOP 20 TF-IDF TERMS</vt:lpstr>
      <vt:lpstr>TOP 20 MOST FREQUENT WORDS</vt:lpstr>
      <vt:lpstr>SENTIMENT ANALYSIS</vt:lpstr>
      <vt:lpstr>SENTIMENT DISTRIBUTION</vt:lpstr>
      <vt:lpstr>SENTIMENT STATISTICS  </vt:lpstr>
      <vt:lpstr>SENTIMENT DISTRUBUTION</vt:lpstr>
      <vt:lpstr>SENTIMENT ANALYSIS VISUALIZATION</vt:lpstr>
      <vt:lpstr>POSITIVE SENTIMENT WORD CLOUD</vt:lpstr>
      <vt:lpstr>NEGATIVE SENTIMENT WORD CLOUD</vt:lpstr>
      <vt:lpstr>NEUTRAL SENTIMENT WORD CLOUD</vt:lpstr>
      <vt:lpstr>ENGAGEMENT ANALYSIS</vt:lpstr>
      <vt:lpstr>SUMMARY OF SENTIMENT DISTRIBUTION</vt:lpstr>
      <vt:lpstr>Interpretation - Emotional Tone &amp; Response Patterns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STEVEN</dc:creator>
  <cp:lastModifiedBy>JOHN STEVEN</cp:lastModifiedBy>
  <cp:revision>3</cp:revision>
  <dcterms:created xsi:type="dcterms:W3CDTF">2025-11-05T07:44:39Z</dcterms:created>
  <dcterms:modified xsi:type="dcterms:W3CDTF">2025-11-10T09:15:54Z</dcterms:modified>
</cp:coreProperties>
</file>